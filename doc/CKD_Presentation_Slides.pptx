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CHRONIC KIDNEY DISEASE (CKD)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8BDF0"/>
                </a:solidFill>
                <a:latin typeface="Segoe UI"/>
              </a:defRPr>
            </a:pPr>
            <a:r>
              <a:t>ENSEMBLE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36576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Machine Learning System for CKD Prediction Using Ensemble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3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Muhammad Fezan  </a:t>
            </a:r>
            <a:r>
              <a:rPr lang="en-US" dirty="0"/>
              <a:t>| </a:t>
            </a:r>
            <a:r>
              <a:rPr lang="en-US" dirty="0" err="1"/>
              <a:t>Shaoib</a:t>
            </a:r>
            <a:r>
              <a:rPr lang="en-US" dirty="0"/>
              <a:t> Rafiq | Umer Malik</a:t>
            </a:r>
            <a:r>
              <a:rPr dirty="0"/>
              <a:t> </a:t>
            </a:r>
            <a:r>
              <a:rPr lang="en-US" dirty="0"/>
              <a:t>·</a:t>
            </a:r>
            <a:r>
              <a:rPr dirty="0"/>
              <a:t> BSCS 6th Semester  ·  Based on Rahman et al.,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Literature Review (Rahman et al.,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System Architecture &amp;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1663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ML Pipeline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6304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Dataset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97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Model Training &amp;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API &amp; Frontend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1663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1663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CKD affects ~10% of global 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Often diagnosed at late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Manual interpretation by nephrologists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Need for automated early screening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01168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37744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24 ML models (8 algorithms × 3 variants)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7180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Ensemble learning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6616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Real-time REST API for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16052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Interactive web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52044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Key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01168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95%+ accuracy across all 24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7180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100% accuracy with 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6616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AUC-ROC of 1.0 for all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60520"/>
            <a:ext cx="3154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RFE reduces features by 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Based on: Rahman et al., 2024 — Machine Learning models for chronic kidney disease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4389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818CF8"/>
                </a:solidFill>
                <a:latin typeface="Segoe UI"/>
              </a:defRPr>
            </a:pPr>
            <a:r>
              <a:t>Rahman et al.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68880"/>
            <a:ext cx="182880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8 ensemble classifiers 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2 feature selection: RFE &amp; Boruta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Borderline-SMOTE for class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MICE imputation for 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5 metrics: Acc, Prec, Recall, F1, 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28800"/>
            <a:ext cx="5394960" cy="4389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01168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818CF8"/>
                </a:solidFill>
                <a:latin typeface="Segoe UI"/>
              </a:defRPr>
            </a:pPr>
            <a:r>
              <a:t>Our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59" y="2468880"/>
            <a:ext cx="182880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83464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Full replication of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3832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FastAPI REST API for real-time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319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React + TypeScript frontend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8056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39 visualization plots (13 per variant)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50292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Model serialization with joblib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8BDF0"/>
                </a:solidFill>
                <a:latin typeface="Segoe UI"/>
              </a:defRPr>
            </a:pPr>
            <a:r>
              <a:t>React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Prediction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TanStack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346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38BDF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52044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8BDF0"/>
                </a:solidFill>
                <a:latin typeface="Segoe UI"/>
              </a:defRPr>
            </a:pPr>
            <a:r>
              <a:t>FastAPI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01168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Python 3.10+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Port 8007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546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8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6118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CORS Enabled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8346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38BDF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463040"/>
            <a:ext cx="352044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8BDF0"/>
                </a:solidFill>
                <a:latin typeface="Segoe UI"/>
              </a:defRPr>
            </a:pPr>
            <a:r>
              <a:t>ML 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01168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24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974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3 Variants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546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8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1188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joblib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1691640" cy="7315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ML 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754880"/>
            <a:ext cx="1691640" cy="7315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48006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507492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Boosting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4754880"/>
            <a:ext cx="1691640" cy="7315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79" y="48006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LightGBM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507492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Boosting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199" y="4754880"/>
            <a:ext cx="1691640" cy="7315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199" y="48006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imbalanced-learn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199" y="507492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SMOTE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4754880"/>
            <a:ext cx="1691640" cy="7315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19" y="48006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Matplotlib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9" y="507492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Plots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4754880"/>
            <a:ext cx="1691640" cy="7315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21240" y="48006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Pydantic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507492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ML PIPELINE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1. Load &amp;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CSV, handle '?'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7631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7631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2.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1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KDE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3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3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9503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3. 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3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MICE +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5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51376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51376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4. Feature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RFE / Boruta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3248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13248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5.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90/10 Stratified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6. SMOTE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Borderline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36992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7. 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8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98864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98864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8. 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5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9296" y="196596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0736" y="1463040"/>
            <a:ext cx="1143000" cy="13716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60736" y="155448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38BDF0"/>
                </a:solidFill>
                <a:latin typeface="Segoe UI"/>
              </a:defRPr>
            </a:pPr>
            <a:r>
              <a:t>9. Save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0736" y="196596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1D5DB"/>
                </a:solidFill>
                <a:latin typeface="Segoe UI"/>
              </a:defRPr>
            </a:pPr>
            <a:r>
              <a:t>.joblib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200400"/>
            <a:ext cx="352044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38328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All 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7947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402336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24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38912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No selection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3200400"/>
            <a:ext cx="352044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26280" y="338328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RFE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7947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6280" y="402336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12 features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438912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Recursive Feature Elimination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200400"/>
            <a:ext cx="3520440" cy="2926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0" y="338328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Boruta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37947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402336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20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38912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Boruta + Random 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UCI CKD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18288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Source: Apollo Hospitals, Managiri,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400 patient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24 clinical features + 1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11 numerical + 14 nominal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Missing values denoted by '?'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Collected: July 2015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94960" cy="21031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818CF8"/>
                </a:solidFill>
                <a:latin typeface="Segoe UI"/>
              </a:defRPr>
            </a:pPr>
            <a:r>
              <a:t>Class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103120"/>
            <a:ext cx="2286000" cy="1097280"/>
          </a:xfrm>
          <a:prstGeom prst="roundRect">
            <a:avLst/>
          </a:prstGeom>
          <a:solidFill>
            <a:srgbClr val="1A2E1A"/>
          </a:solidFill>
          <a:ln w="6350">
            <a:solidFill>
              <a:srgbClr val="2D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250 (62.5%)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060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4D399"/>
                </a:solidFill>
                <a:latin typeface="Segoe UI"/>
              </a:defRPr>
            </a:pPr>
            <a:r>
              <a:t>CKD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103120"/>
            <a:ext cx="2286000" cy="1097280"/>
          </a:xfrm>
          <a:prstGeom prst="roundRect">
            <a:avLst/>
          </a:prstGeom>
          <a:solidFill>
            <a:srgbClr val="2E1A1A"/>
          </a:solidFill>
          <a:ln w="6350">
            <a:solidFill>
              <a:srgbClr val="5A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21945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150 (37.5%)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notCKD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394960" cy="23774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818CF8"/>
                </a:solidFill>
                <a:latin typeface="Segoe UI"/>
              </a:defRPr>
            </a:pPr>
            <a:r>
              <a:t>Feature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4340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Basic: age, 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90872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Urinalysis: sg, al, su, rbc, pc, pcc, 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38344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Blood Tests: bgr, bu, sc, sod, pot, hemo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85816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Cell Counts: pcv, wbcc, rbcc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733288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Clinical: htn, dm, cad, appet, pe, ane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MODEL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8 Ensemble Classifiers with RandomizedSearchCV (5-fold Cross-Validation)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50-400 trees  ·  random_state=42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AdaBoost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50-100 estimators  ·  learning_rate=0.1-1.0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GBDT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100-300 estimators  ·  max_depth=3-7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Voting Soft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RF + GBDT + LR  ·  soft voting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82880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39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286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100-300 estimators  ·  max_depth=3-7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92608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39" y="3017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LightGBM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3383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100-300 estimators  ·  num_leaves=31-127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02336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39" y="41148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Stacking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4480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4 base + LR meta  ·  5-fold CV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5120640"/>
            <a:ext cx="539496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39" y="5212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8BDF0"/>
                </a:solidFill>
                <a:latin typeface="Segoe UI"/>
              </a:defRPr>
            </a:pPr>
            <a:r>
              <a:t>Bagging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5577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50-100 estimators  ·  bootstrap=True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RESULTS: ALL FEATURES (24)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7498079" cy="4114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4173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173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173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4173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8BDF0"/>
                </a:solidFill>
                <a:latin typeface="Segoe UI"/>
              </a:defRPr>
            </a:pPr>
            <a:r>
              <a:t>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7498079" cy="3840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653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653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653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8653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8653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67712"/>
            <a:ext cx="7498079" cy="384048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30428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AdaBoost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30428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30428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30428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0428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30428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06624"/>
            <a:ext cx="7498079" cy="3840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GBDT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7432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7432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7432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7432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7432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7498079" cy="384048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18211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Voting Soft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18211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18211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18211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18211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18211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584448"/>
            <a:ext cx="7498079" cy="3840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3621024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36210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36210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6210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6210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6210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023360"/>
            <a:ext cx="7498079" cy="384048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05993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LightGBM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05993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39" y="405993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405993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05993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0.980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05993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462272"/>
            <a:ext cx="7498079" cy="3840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4988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Stacking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449884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449884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449884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49884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449884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901183"/>
            <a:ext cx="7498079" cy="384048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4937759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Bagging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51760" y="4937759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39" y="4937759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4937759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4937759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4937759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12480" y="1371600"/>
            <a:ext cx="3200400" cy="47548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641080" y="15544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8BDF0"/>
                </a:solidFill>
                <a:latin typeface="Segoe UI"/>
              </a:defRPr>
            </a:pPr>
            <a:r>
              <a:t>Key Highlights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41080" y="19659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641080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3/8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80" y="2651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Perfect Scores (1.0)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1080" y="3108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3474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AUC-ROC All Models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3931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97.5%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42976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Min Accuracy (AdaBoost)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41080" y="4754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RF, Bagging, Stacking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41080" y="5120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Best Overall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RESULTS: RFE &amp; BORUTA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RFE (12 Features)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8288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sg, al, su, bgr, sc, hemo, pcv, rbcc, rbc, htn, dm, appet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26080"/>
            <a:ext cx="49377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BDF0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59" y="294436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BDF0"/>
                </a:solidFill>
                <a:latin typeface="Segoe UI"/>
              </a:defRPr>
            </a:pPr>
            <a:r>
              <a:t>Acc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94436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BDF0"/>
                </a:solidFill>
                <a:latin typeface="Segoe UI"/>
              </a:defRPr>
            </a:pPr>
            <a:r>
              <a:t>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91840"/>
            <a:ext cx="49377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59" y="333756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33756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4937760" cy="438912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AdaBoost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59" y="384048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0.950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4048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97680"/>
            <a:ext cx="49377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Voting Soft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59" y="434340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34340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00600"/>
            <a:ext cx="4937760" cy="438912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59" y="484632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84632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03520"/>
            <a:ext cx="49377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Bagging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59" y="534924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534924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1371600"/>
            <a:ext cx="53949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59" y="15544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Boruta (20 Features)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59" y="1965960"/>
            <a:ext cx="18288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59" y="214884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age, bp, bgr, bu, sc, sod, pot, hemo, pcv, wbcc, rbcc, sg, al, su, rbc, pc, htn, dm, appet, cad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59" y="2926080"/>
            <a:ext cx="49377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59" y="294436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BDF0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8" y="294436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BDF0"/>
                </a:solidFill>
                <a:latin typeface="Segoe UI"/>
              </a:defRPr>
            </a:pPr>
            <a:r>
              <a:t>Acc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799" y="294436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BDF0"/>
                </a:solidFill>
                <a:latin typeface="Segoe UI"/>
              </a:defRPr>
            </a:pPr>
            <a:r>
              <a:t>AUC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59" y="3291840"/>
            <a:ext cx="49377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59" y="333756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8" y="333756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799" y="333756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59" y="3794760"/>
            <a:ext cx="4937760" cy="438912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59" y="384048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AdaBoost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8" y="384048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799" y="384048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59" y="4297680"/>
            <a:ext cx="49377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37959" y="434340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Voting Soft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8" y="434340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799" y="434340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59" y="4800600"/>
            <a:ext cx="4937760" cy="438912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59" y="484632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78" y="484632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799" y="484632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59" y="5303520"/>
            <a:ext cx="49377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37959" y="534924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Bagging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8" y="534924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0.975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799" y="5349240"/>
            <a:ext cx="1554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1.000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All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24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D39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Best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BD38D"/>
                </a:solidFill>
                <a:latin typeface="Segoe UI"/>
              </a:defRPr>
            </a:pPr>
            <a:r>
              <a:t>3/8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004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Perfect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154680" cy="91440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No feature selection</a:t>
            </a:r>
            <a:br/>
            <a:r>
              <a:t>All raw features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71600"/>
            <a:ext cx="352044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RFE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9659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19456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12 features (50% reduction)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D39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004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Best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7432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BD38D"/>
                </a:solidFill>
                <a:latin typeface="Segoe UI"/>
              </a:defRPr>
            </a:pPr>
            <a:r>
              <a:t>2/8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2004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Perfect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840480"/>
            <a:ext cx="3154680" cy="91440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93192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LogisticRegression base</a:t>
            </a:r>
            <a:br/>
            <a:r>
              <a:t>Manual override for su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371600"/>
            <a:ext cx="352044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554480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Boruta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965960"/>
            <a:ext cx="13716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219456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20 features (83% retained)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7432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D39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004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Best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7432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BD38D"/>
                </a:solidFill>
                <a:latin typeface="Segoe UI"/>
              </a:defRPr>
            </a:pPr>
            <a:r>
              <a:t>2/8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2004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Perfect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840480"/>
            <a:ext cx="3154680" cy="91440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393192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RandomForest base</a:t>
            </a:r>
            <a:br/>
            <a:r>
              <a:t>Confirmed + Tentative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API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Health check — loaded models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Run full ML pipeline (all 24 models)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BD38D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/predict/{variant}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Predict CKD risk (24 patient fields)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20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204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All evaluation metrics for all variants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/metrics/{variant}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062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Metrics for specific variant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/plots-list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920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List all available plot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6424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577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/features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5778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Feature selection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FRONTEND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Prediction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8288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24 input fields in 5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3 variant selector buttons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Real-time prediction via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Best model verdict display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All 8 model predictions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Probability visualization bars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Risk level &amp; confidence badges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371600"/>
            <a:ext cx="5394960" cy="5029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15544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8BDF0"/>
                </a:solidFill>
                <a:latin typeface="Segoe UI"/>
              </a:defRPr>
            </a:pPr>
            <a:r>
              <a:t>Analytics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1965960"/>
            <a:ext cx="1828800" cy="254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9" y="22402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Evaluation metrics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7432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Feature selection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2461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KDE distribution plots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74904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Model comparison bar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25196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ROC curves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7548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Confusion matrix heatmaps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52578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• Train Models button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3880" y="1371600"/>
            <a:ext cx="11064240" cy="41148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Successfully replicated Rahman et al., 2024 methodology with 95%+ accuracy across all 24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MICE imputation + Borderline-SMOTE effectively handled missing data and class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0607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Feature selection (RFE: 12 features) achieves comparable performance to full 24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607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Full-stack deployment: FastAPI backend + React frontend + Vercel 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Comprehensive evaluation with 39 visualization plots across 3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Production-ready REST API with 8 endpoints for training, prediction, and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" y="467437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18CF8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4983480"/>
            <a:ext cx="10607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Clinical validation on larger datasets  ·  EHR integration  ·  Deep learning approaches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38BDF0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474720"/>
            <a:ext cx="4480560" cy="381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github.com/H0NEYP0T-466/CKD-Ensemble-Classifier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ckd-ensemble-classifier.vercel.app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Muhammad Fezan  ·  BSCS 6th Semester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solidFill>
            <a:srgbClr val="38B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1135</Words>
  <Application>Microsoft Office PowerPoint</Application>
  <PresentationFormat>Widescreen</PresentationFormat>
  <Paragraphs>334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Fezan</cp:lastModifiedBy>
  <cp:revision>2</cp:revision>
  <dcterms:created xsi:type="dcterms:W3CDTF">2013-01-27T09:14:16Z</dcterms:created>
  <dcterms:modified xsi:type="dcterms:W3CDTF">2026-05-23T16:43:05Z</dcterms:modified>
  <cp:category/>
</cp:coreProperties>
</file>